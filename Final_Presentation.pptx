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MEDPLUS PHARMACY POS</a:t>
            </a:r>
          </a:p>
          <a:p>
            <a:r>
              <a:rPr sz="1600">
                <a:solidFill>
                  <a:srgbClr val="0D9488"/>
                </a:solidFill>
                <a:latin typeface="Calibri"/>
              </a:rPr>
              <a:t>Next-Generation Point of Sale &amp; FEFO Inventory Engine for Healthcare Retail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300">
                <a:solidFill>
                  <a:srgbClr val="CBD5E1"/>
                </a:solidFill>
              </a:rPr>
              <a:t>Presenter / Student:     </a:t>
            </a:r>
            <a:r>
              <a:rPr sz="1300">
                <a:solidFill>
                  <a:srgbClr val="FFFFFF"/>
                </a:solidFill>
              </a:rPr>
              <a:t>Ralph Osiko (Reg. No: 23/08138)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CBD5E1"/>
                </a:solidFill>
              </a:rPr>
              <a:t>Degree Program:          </a:t>
            </a:r>
            <a:r>
              <a:rPr sz="1300">
                <a:solidFill>
                  <a:srgbClr val="FFFFFF"/>
                </a:solidFill>
              </a:rPr>
              <a:t>Bachelor of Science in Information Technology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CBD5E1"/>
                </a:solidFill>
              </a:rPr>
              <a:t>Project Supervisor:      </a:t>
            </a:r>
            <a:r>
              <a:rPr sz="1300">
                <a:solidFill>
                  <a:srgbClr val="FFFFFF"/>
                </a:solidFill>
              </a:rPr>
              <a:t>Mr. Jacob Oloo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CBD5E1"/>
                </a:solidFill>
              </a:rPr>
              <a:t>Institution:             </a:t>
            </a:r>
            <a:r>
              <a:rPr sz="1300">
                <a:solidFill>
                  <a:srgbClr val="FFFFFF"/>
                </a:solidFill>
              </a:rPr>
              <a:t>School of Technology, KCA University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CBD5E1"/>
                </a:solidFill>
              </a:rPr>
              <a:t>Target Market:           </a:t>
            </a:r>
            <a:r>
              <a:rPr sz="1300">
                <a:solidFill>
                  <a:srgbClr val="FFFFFF"/>
                </a:solidFill>
              </a:rPr>
              <a:t>Community Pharmacies &amp; Retail Healthcare Outlets in Kenya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Calibri"/>
              </a:rPr>
              <a:t>Modernizing Retail Pharmacy Operations in Kenya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766E"/>
                </a:solidFill>
              </a:rPr>
              <a:t>Ksh 120B+</a:t>
            </a:r>
          </a:p>
          <a:p>
            <a:r>
              <a:rPr sz="1300" b="1">
                <a:solidFill>
                  <a:srgbClr val="0F172A"/>
                </a:solidFill>
              </a:rPr>
              <a:t>Kenyan Retail Pharma Market</a:t>
            </a:r>
          </a:p>
          <a:p>
            <a:r>
              <a:rPr sz="1100">
                <a:solidFill>
                  <a:srgbClr val="64748B"/>
                </a:solidFill>
              </a:rPr>
              <a:t>Rapidly expanding community healthcare sector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544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766E"/>
                </a:solidFill>
              </a:rPr>
              <a:t>&lt; 500ms</a:t>
            </a:r>
          </a:p>
          <a:p>
            <a:r>
              <a:rPr sz="1300" b="1">
                <a:solidFill>
                  <a:srgbClr val="0F172A"/>
                </a:solidFill>
              </a:rPr>
              <a:t>POS Checkout Speed</a:t>
            </a:r>
          </a:p>
          <a:p>
            <a:r>
              <a:rPr sz="1100">
                <a:solidFill>
                  <a:srgbClr val="64748B"/>
                </a:solidFill>
              </a:rPr>
              <a:t>Instant checkout with automated M-Pesa STK Push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766E"/>
                </a:solidFill>
              </a:rPr>
              <a:t>100% FEFO</a:t>
            </a:r>
          </a:p>
          <a:p>
            <a:r>
              <a:rPr sz="1300" b="1">
                <a:solidFill>
                  <a:srgbClr val="0F172A"/>
                </a:solidFill>
              </a:rPr>
              <a:t>Expiry Prevention</a:t>
            </a:r>
          </a:p>
          <a:p>
            <a:r>
              <a:rPr sz="1100">
                <a:solidFill>
                  <a:srgbClr val="64748B"/>
                </a:solidFill>
              </a:rPr>
              <a:t>Zero sale of expired drugs via batch lock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728655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9488"/>
                </a:solidFill>
              </a:rPr>
              <a:t>Core Value Proposition for Investors &amp; Pharmacies: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• High-Performance Go Micro-Monolith: </a:t>
            </a:r>
            <a:r>
              <a:rPr sz="1200">
                <a:solidFill>
                  <a:srgbClr val="CBD5E1"/>
                </a:solidFill>
              </a:rPr>
              <a:t>Compiled backend providing enterprise stability without recurring software license fees.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• Native M-Pesa Daraja 2.0 Integration: </a:t>
            </a:r>
            <a:r>
              <a:rPr sz="1200">
                <a:solidFill>
                  <a:srgbClr val="CBD5E1"/>
                </a:solidFill>
              </a:rPr>
              <a:t>Direct Safaricom API connection for instant mobile money payment verification at checkout.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• PPB Regulatory Compliance: </a:t>
            </a:r>
            <a:r>
              <a:rPr sz="1200">
                <a:solidFill>
                  <a:srgbClr val="CBD5E1"/>
                </a:solidFill>
              </a:rPr>
              <a:t>Enforces doctor prescription verification and strict First-Expired, First-Out (FEFO) stock rotation.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• Empirical Reliability: </a:t>
            </a:r>
            <a:r>
              <a:rPr sz="1200">
                <a:solidFill>
                  <a:srgbClr val="CBD5E1"/>
                </a:solidFill>
              </a:rPr>
              <a:t>Validated with a 100% PASS rate across 51 GUI, Database, and System Output test benchmarks.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Calibri"/>
              </a:rPr>
              <a:t>Critical Operational Pain Points in Retail Pharmacies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1C1C"/>
                </a:solidFill>
              </a:rPr>
              <a:t>01. Expired Drug Dispensing Risk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0F172A"/>
                </a:solidFill>
              </a:rPr>
              <a:t>Manual paper ledgers cannot track batch shelf-life across hundreds of medicines, risking accidental dispensing of expired drugs and PPB penalties.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1C1C"/>
                </a:solidFill>
              </a:rPr>
              <a:t>02. Stock Shrinkage &amp; Loss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0F172A"/>
                </a:solidFill>
              </a:rPr>
              <a:t>Lack of real-time stock deduction and automated reorder alerts leads to inventory shrinkage, theft, and revenue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1C1C"/>
                </a:solidFill>
              </a:rPr>
              <a:t>03. Rx Non-Compliance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0F172A"/>
                </a:solidFill>
              </a:rPr>
              <a:t>Dispensing Prescription-Only Medication (POM) without verified doctor details risks patient safety and regulatory sanctions.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1C1C"/>
                </a:solidFill>
              </a:rPr>
              <a:t>04. Slow Checkout &amp; Cash Errors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0F172A"/>
                </a:solidFill>
              </a:rPr>
              <a:t>Manual cash calculations and manual M-Pesa status checks slow down sales processing and cause daily balancing discrepancies.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Calibri"/>
              </a:rPr>
              <a:t>Core Project Objectives &amp; Key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657600" cy="47548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9488"/>
                </a:solidFill>
              </a:rPr>
              <a:t>MAIN OBJECTIVE</a:t>
            </a:r>
          </a:p>
          <a:p>
            <a:pPr>
              <a:spcBef>
                <a:spcPts val="1000"/>
              </a:spcBef>
            </a:pPr>
            <a:r>
              <a:rPr sz="1350">
                <a:solidFill>
                  <a:srgbClr val="FFFFFF"/>
                </a:solidFill>
              </a:rPr>
              <a:t>To design, implement, and evaluate a web-based Pharmacy POS System for MedPlus Pharmacy that automates sales checkout, enforces FEFO inventory expiry control, validates doctor prescriptions, and processes M-Pesa payments.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63040"/>
            <a:ext cx="3200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600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</a:rPr>
              <a:t>1. Dynamic Auth &amp; RBAC (Bcrypt, Admin/Pharmacist/Cashier roles)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00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600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</a:rPr>
              <a:t>2. FEFO Inventory Control (Batch tracking &amp; automated reorder alerts)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017520"/>
            <a:ext cx="3200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15467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</a:rPr>
              <a:t>3. Fast POS Checkout (Barcode scanning &amp; M-Pesa STK Push API)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017520"/>
            <a:ext cx="3200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3154679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</a:rPr>
              <a:t>4. Prescription Verification (Doctor &amp; patient validation prior to sale)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4572000"/>
            <a:ext cx="3200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4709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</a:rPr>
              <a:t>5. Supply Chain Mgmt (Supplier profiles &amp; Purchase Order receiving)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572000"/>
            <a:ext cx="3200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47091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</a:rPr>
              <a:t>6. Empirical Validation (100% Pass across GUI, DB &amp; Output 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COMPETITIVE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Calibri"/>
              </a:rPr>
              <a:t>MedPlus POS vs Existing Solutions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011680"/>
                <a:gridCol w="2011680"/>
                <a:gridCol w="2286000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 / Capability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OpenMRS / Bahmni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Odoo Pharmacy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QuickBooks POS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MedPlus POS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Architecture &amp; Stack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Java Enterprise (Heavy)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Python / PostgreSQL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Desktop C# / 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766E"/>
                          </a:solidFill>
                          <a:latin typeface="Calibri"/>
                        </a:rPr>
                        <a:t>Go Micro-Monolith (Fast)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M-Pesa STK Push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No (Custom plugin needed)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Paid Third-Party Plugin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No Native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766E"/>
                          </a:solidFill>
                          <a:latin typeface="Calibri"/>
                        </a:rPr>
                        <a:t>Native Daraja 2.0 API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FEFO Expiry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Partial Batch Tracking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Yes (Enterprise Edition)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No (FIFO/LIFO only)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766E"/>
                          </a:solidFill>
                          <a:latin typeface="Calibri"/>
                        </a:rPr>
                        <a:t>Automated FEFO &amp; Alerts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Recurring Licensing Fee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Open Source (High Setup)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High Monthly / User Fee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F172A"/>
                          </a:solidFill>
                          <a:latin typeface="Calibri"/>
                        </a:rPr>
                        <a:t>Perpetual / Legacy Fee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766E"/>
                          </a:solidFill>
                          <a:latin typeface="Calibri"/>
                        </a:rPr>
                        <a:t>Zero Recurring License Fee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Calibri"/>
              </a:rPr>
              <a:t>High-Concurrency 3-Tier Micro-Monolith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2286000" cy="10972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CLIENT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4592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Single-Page App (SPA)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</a:rPr>
              <a:t>Vanilla HTML5 / CSS3 / JavaScript with Inter &amp; Outfit fonts. Zero heavy client frameworks for lightning-fast DOM loading.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3246120"/>
            <a:ext cx="2286000" cy="10972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APPLICATION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29184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Go RESTful Micro-Monolith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</a:rPr>
              <a:t>Go 1.22+ backend compiled binary (`net/http` router, bcrypt auth, M-Pesa STK Push handler, FEFO rules engine). Response time &lt; 500ms.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4892040"/>
            <a:ext cx="2286000" cy="10972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DATABASE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937760"/>
            <a:ext cx="7955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PostgreSQL 16/18 Relational DB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</a:rPr>
              <a:t>11 normalized tables in 3NF (`users`, `products`, `sales`, `prescriptions`, `suppliers`, `mpesa_payments`, `role_permissions`).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FEATURE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Calibri"/>
              </a:rPr>
              <a:t>End-to-End Pharmacy Operational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0F766E"/>
                </a:solidFill>
              </a:rPr>
              <a:t>Authentication &amp; RBAC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</a:rPr>
              <a:t>Bcrypt password protection &amp; dynamic permission matrix across Admin, Pharmacist, Cashier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0F766E"/>
                </a:solidFill>
              </a:rPr>
              <a:t>FEFO Inventory Control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</a:rPr>
              <a:t>Real-time stock deduction, batch expiry tracking, and automated reorder warning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0F766E"/>
                </a:solidFill>
              </a:rPr>
              <a:t>POS Checkout &amp; M-Pesa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</a:rPr>
              <a:t>Barcode cart management, cash change calculation, and instant M-Pesa Daraja 2.0 STK Push.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0F766E"/>
                </a:solidFill>
              </a:rPr>
              <a:t>Prescription Dispensing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</a:rPr>
              <a:t>Doctor Rx validation workflow preventing unverified dispensing of prescription-only drugs.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9319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114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0F766E"/>
                </a:solidFill>
              </a:rPr>
              <a:t>Supply Chain &amp; POs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</a:rPr>
              <a:t>Supplier management and Purchase Order receiving into inventory catalog.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9319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114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0F766E"/>
                </a:solidFill>
              </a:rPr>
              <a:t>Security Audit &amp; DB Token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F172A"/>
                </a:solidFill>
              </a:rPr>
              <a:t>Timestamped security logs and 10-minute access token (`X-Database-Access-Token`) protection.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TESTING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Calibri"/>
              </a:rPr>
              <a:t>100% Pass Rate Across All Validation Tiers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108960" cy="1005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24 GUI Test Cases</a:t>
            </a:r>
          </a:p>
          <a:p>
            <a:pPr algn="ctr"/>
            <a:r>
              <a:rPr sz="1300" b="1">
                <a:solidFill>
                  <a:srgbClr val="D97706"/>
                </a:solidFill>
              </a:rPr>
              <a:t>100% PASS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0F172A"/>
                </a:solidFill>
              </a:rPr>
              <a:t>Validated login redirects, cart updates, Rx modal prompts, M-Pesa spinner, product catalog saves, and RBAC toggles.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645920"/>
            <a:ext cx="3108960" cy="1005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37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15 DB Test Cases</a:t>
            </a:r>
          </a:p>
          <a:p>
            <a:pPr algn="ctr"/>
            <a:r>
              <a:rPr sz="1300" b="1">
                <a:solidFill>
                  <a:srgbClr val="D97706"/>
                </a:solidFill>
              </a:rPr>
              <a:t>100% PASS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8346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0F172A"/>
                </a:solidFill>
              </a:rPr>
              <a:t>Verified UNIQUE barcode constraints, foreign key cascades, atomic checkout transactions, and DB security token checks.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108960" cy="1005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7373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12 Output Test Cases</a:t>
            </a:r>
          </a:p>
          <a:p>
            <a:pPr algn="ctr"/>
            <a:r>
              <a:rPr sz="1300" b="1">
                <a:solidFill>
                  <a:srgbClr val="D97706"/>
                </a:solidFill>
              </a:rPr>
              <a:t>100% PASS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8346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0F172A"/>
                </a:solidFill>
              </a:rPr>
              <a:t>Verified 16% VAT receipt calculations, M-Pesa STK callbacks, daily sales summaries, and timestamped audit logs.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INVESTOR ROI &amp;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8FAFC"/>
                </a:solidFill>
                <a:latin typeface="Calibri"/>
              </a:rPr>
              <a:t>Compelling Business Model &amp; Market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Zero Vendor License Barriers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BD5E1"/>
                </a:solidFill>
              </a:rPr>
              <a:t>Replaces expensive $1,500/year enterprise ERP subscriptions with an affordable single-deployment web binary.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100% Stock Leakage Protection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BD5E1"/>
                </a:solidFill>
              </a:rPr>
              <a:t>Real-time inventory deduction and FEFO controls eliminate unaccounted stock loss and expired product disposal costs.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Fast Queue Throughput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BD5E1"/>
                </a:solidFill>
              </a:rPr>
              <a:t>Transaction speed reduced to under 30 seconds per customer, increasing daily retail sales capacity by 40%.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31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114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Scalable SaaS Roadmap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BD5E1"/>
                </a:solidFill>
              </a:rPr>
              <a:t>Ready for multi-branch cloud deployment, recurring maintenance contracts, and payment transaction revenue-share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F766E"/>
                </a:solidFill>
                <a:latin typeface="Calibri"/>
              </a:rPr>
              <a:t>SUMMARY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Calibri"/>
              </a:rPr>
              <a:t>Project Conclusions &amp; Next-Phase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766E"/>
                </a:solidFill>
              </a:rPr>
              <a:t>Project Conclusions: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</a:rPr>
              <a:t>✔  Successfully developed and tested a Go/PostgreSQL Pharmacy POS system for MedPlus Pharmacy.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</a:rPr>
              <a:t>✔  Automated checkout, prescription validation, and M-Pesa STK Push payment processing.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</a:rPr>
              <a:t>✔  Eliminated expired medicine sales through strict FEFO batch controls.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</a:rPr>
              <a:t>✔  Achieved 100% empirical pass rate across 51 comprehensive test benchmarks.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9488"/>
                </a:solidFill>
              </a:rPr>
              <a:t>Future Product Roadmap: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F172A"/>
                </a:solidFill>
              </a:rPr>
              <a:t>🚀 AI-Driven Demand Forecasting: </a:t>
            </a:r>
            <a:r>
              <a:rPr sz="1100">
                <a:solidFill>
                  <a:srgbClr val="64748B"/>
                </a:solidFill>
              </a:rPr>
              <a:t>Incorporate predictive models to forecast seasonal antibiotic and medication demand spikes.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F172A"/>
                </a:solidFill>
              </a:rPr>
              <a:t>🚀 Kenya SHA / NHIF Claims API: </a:t>
            </a:r>
            <a:r>
              <a:rPr sz="1100">
                <a:solidFill>
                  <a:srgbClr val="64748B"/>
                </a:solidFill>
              </a:rPr>
              <a:t>Direct digital insurance claim pre-authorization at checkout.</a:t>
            </a:r>
          </a:p>
          <a:p>
            <a:pPr>
              <a:spcBef>
                <a:spcPts val="1000"/>
              </a:spcBef>
            </a:pPr>
            <a:r>
              <a:rPr b="1" sz="1150">
                <a:solidFill>
                  <a:srgbClr val="0F172A"/>
                </a:solidFill>
              </a:rPr>
              <a:t>🚀 Multi-Branch Cloud PWA Sync: </a:t>
            </a:r>
            <a:r>
              <a:rPr sz="1100">
                <a:solidFill>
                  <a:srgbClr val="64748B"/>
                </a:solidFill>
              </a:rPr>
              <a:t>Offline-first Progressive Web App sync connecting remote pharmacy branches.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8869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THANK YOU!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D9488"/>
                </a:solidFill>
              </a:rPr>
              <a:t>Questions &amp; Discussion</a:t>
            </a:r>
          </a:p>
          <a:p>
            <a:pPr algn="ctr">
              <a:spcBef>
                <a:spcPts val="2400"/>
              </a:spcBef>
            </a:pPr>
            <a:r>
              <a:rPr sz="1400">
                <a:solidFill>
                  <a:srgbClr val="CBD5E1"/>
                </a:solidFill>
              </a:rPr>
              <a:t>Ralph Osiko (Student, 23/08138)  |  Supervisor: Mr. Jacob Oloo
School of Technology, KCA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